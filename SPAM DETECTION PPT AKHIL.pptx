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8755" y="1540784"/>
            <a:ext cx="3266440" cy="57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4106" y="3440202"/>
            <a:ext cx="12372974" cy="22288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7773" y="2931735"/>
            <a:ext cx="4029074" cy="1233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2081" y="1535069"/>
            <a:ext cx="4165600" cy="61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2364" y="2807579"/>
            <a:ext cx="9480550" cy="6123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927" y="3859727"/>
            <a:ext cx="14268449" cy="25717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47517" y="4579873"/>
            <a:ext cx="1319276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770" dirty="0"/>
              <a:t>SPAM</a:t>
            </a:r>
            <a:r>
              <a:rPr sz="7000" spc="-345" dirty="0"/>
              <a:t> </a:t>
            </a:r>
            <a:r>
              <a:rPr sz="7000" spc="705" dirty="0"/>
              <a:t>MESSAGE</a:t>
            </a:r>
            <a:r>
              <a:rPr sz="7000" spc="-345" dirty="0"/>
              <a:t> </a:t>
            </a:r>
            <a:r>
              <a:rPr sz="7000" spc="515" dirty="0"/>
              <a:t>DETECTION:</a:t>
            </a:r>
            <a:endParaRPr sz="7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27" y="3555656"/>
            <a:ext cx="4029074" cy="1233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41223" y="6331375"/>
            <a:ext cx="580580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98475">
              <a:lnSpc>
                <a:spcPct val="115199"/>
              </a:lnSpc>
              <a:spcBef>
                <a:spcPts val="100"/>
              </a:spcBef>
            </a:pPr>
            <a:r>
              <a:rPr sz="3200" b="1" spc="-220" dirty="0">
                <a:solidFill>
                  <a:srgbClr val="737373"/>
                </a:solidFill>
                <a:latin typeface="Tahoma"/>
                <a:cs typeface="Tahoma"/>
              </a:rPr>
              <a:t>Presented</a:t>
            </a:r>
            <a:r>
              <a:rPr sz="3200" b="1" spc="-4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20" dirty="0">
                <a:solidFill>
                  <a:srgbClr val="737373"/>
                </a:solidFill>
                <a:latin typeface="Tahoma"/>
                <a:cs typeface="Tahoma"/>
              </a:rPr>
              <a:t>by</a:t>
            </a:r>
            <a:r>
              <a:rPr sz="3200" b="1" spc="-120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160" dirty="0">
                <a:solidFill>
                  <a:srgbClr val="737373"/>
                </a:solidFill>
                <a:latin typeface="Tahoma"/>
                <a:cs typeface="Tahoma"/>
              </a:rPr>
              <a:t>Dasari</a:t>
            </a:r>
            <a:r>
              <a:rPr sz="3200" b="1" spc="-7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737373"/>
                </a:solidFill>
                <a:latin typeface="Tahoma"/>
                <a:cs typeface="Tahoma"/>
              </a:rPr>
              <a:t>Akhil </a:t>
            </a:r>
            <a:r>
              <a:rPr sz="3200" b="1" spc="-215" dirty="0">
                <a:solidFill>
                  <a:srgbClr val="737373"/>
                </a:solidFill>
                <a:latin typeface="Tahoma"/>
                <a:cs typeface="Tahoma"/>
              </a:rPr>
              <a:t>Project</a:t>
            </a:r>
            <a:r>
              <a:rPr sz="3200" b="1" spc="-4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210" dirty="0">
                <a:solidFill>
                  <a:srgbClr val="737373"/>
                </a:solidFill>
                <a:latin typeface="Tahoma"/>
                <a:cs typeface="Tahoma"/>
              </a:rPr>
              <a:t>guide:</a:t>
            </a:r>
            <a:r>
              <a:rPr sz="3200" b="1" spc="-4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105" dirty="0">
                <a:solidFill>
                  <a:srgbClr val="737373"/>
                </a:solidFill>
                <a:latin typeface="Tahoma"/>
                <a:cs typeface="Tahoma"/>
              </a:rPr>
              <a:t>Dr.</a:t>
            </a:r>
            <a:r>
              <a:rPr sz="3200" b="1" spc="-4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254" dirty="0">
                <a:solidFill>
                  <a:srgbClr val="737373"/>
                </a:solidFill>
                <a:latin typeface="Tahoma"/>
                <a:cs typeface="Tahoma"/>
              </a:rPr>
              <a:t>Swathi</a:t>
            </a:r>
            <a:r>
              <a:rPr sz="3200" b="1" spc="-45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3200" b="1" spc="-155" dirty="0">
                <a:solidFill>
                  <a:srgbClr val="737373"/>
                </a:solidFill>
                <a:latin typeface="Tahoma"/>
                <a:cs typeface="Tahoma"/>
              </a:rPr>
              <a:t>Gupta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3652" y="8557894"/>
            <a:ext cx="2095500" cy="709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737373"/>
                </a:solidFill>
                <a:latin typeface="Tahoma"/>
                <a:cs typeface="Tahoma"/>
              </a:rPr>
              <a:t>Jain</a:t>
            </a:r>
            <a:r>
              <a:rPr sz="2400" b="1" spc="-100" dirty="0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sz="2400" b="1" spc="-125" dirty="0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marL="438784">
              <a:lnSpc>
                <a:spcPct val="100000"/>
              </a:lnSpc>
              <a:spcBef>
                <a:spcPts val="110"/>
              </a:spcBef>
            </a:pPr>
            <a:r>
              <a:rPr sz="2000" spc="80" dirty="0">
                <a:solidFill>
                  <a:srgbClr val="737373"/>
                </a:solidFill>
                <a:latin typeface="Tahoma"/>
                <a:cs typeface="Tahoma"/>
              </a:rPr>
              <a:t>2025-</a:t>
            </a:r>
            <a:r>
              <a:rPr sz="2000" spc="60" dirty="0">
                <a:solidFill>
                  <a:srgbClr val="737373"/>
                </a:solidFill>
                <a:latin typeface="Tahoma"/>
                <a:cs typeface="Tahoma"/>
              </a:rPr>
              <a:t>2026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spc="415" dirty="0"/>
              <a:t>INTRODUCTION</a:t>
            </a:r>
            <a:endParaRPr sz="3850"/>
          </a:p>
        </p:txBody>
      </p:sp>
      <p:sp>
        <p:nvSpPr>
          <p:cNvPr id="3" name="object 3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0928" y="4744707"/>
            <a:ext cx="17406620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100"/>
              </a:lnSpc>
              <a:spcBef>
                <a:spcPts val="100"/>
              </a:spcBef>
            </a:pPr>
            <a:r>
              <a:rPr sz="3800" spc="210" dirty="0">
                <a:latin typeface="Tahoma"/>
                <a:cs typeface="Tahoma"/>
              </a:rPr>
              <a:t>SMS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35" dirty="0">
                <a:latin typeface="Tahoma"/>
                <a:cs typeface="Tahoma"/>
              </a:rPr>
              <a:t>spam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messages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0" dirty="0">
                <a:latin typeface="Tahoma"/>
                <a:cs typeface="Tahoma"/>
              </a:rPr>
              <a:t>such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as</a:t>
            </a:r>
            <a:r>
              <a:rPr sz="3800" spc="-240" dirty="0">
                <a:latin typeface="Tahoma"/>
                <a:cs typeface="Tahoma"/>
              </a:rPr>
              <a:t> </a:t>
            </a:r>
            <a:r>
              <a:rPr sz="3800" spc="-65" dirty="0">
                <a:latin typeface="Tahoma"/>
                <a:cs typeface="Tahoma"/>
              </a:rPr>
              <a:t>promotional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114" dirty="0">
                <a:latin typeface="Tahoma"/>
                <a:cs typeface="Tahoma"/>
              </a:rPr>
              <a:t>offers,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0" dirty="0">
                <a:latin typeface="Tahoma"/>
                <a:cs typeface="Tahoma"/>
              </a:rPr>
              <a:t>phishing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65" dirty="0">
                <a:latin typeface="Tahoma"/>
                <a:cs typeface="Tahoma"/>
              </a:rPr>
              <a:t>links,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0" dirty="0">
                <a:latin typeface="Tahoma"/>
                <a:cs typeface="Tahoma"/>
              </a:rPr>
              <a:t>and</a:t>
            </a:r>
            <a:r>
              <a:rPr sz="3800" spc="-240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fraud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30" dirty="0">
                <a:latin typeface="Tahoma"/>
                <a:cs typeface="Tahoma"/>
              </a:rPr>
              <a:t>alerts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are </a:t>
            </a:r>
            <a:r>
              <a:rPr sz="3800" spc="-10" dirty="0">
                <a:latin typeface="Tahoma"/>
                <a:cs typeface="Tahoma"/>
              </a:rPr>
              <a:t>increasing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rapidly.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45" dirty="0">
                <a:latin typeface="Tahoma"/>
                <a:cs typeface="Tahoma"/>
              </a:rPr>
              <a:t>These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messages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can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cause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60" dirty="0">
                <a:latin typeface="Tahoma"/>
                <a:cs typeface="Tahoma"/>
              </a:rPr>
              <a:t>inconvenience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20" dirty="0">
                <a:latin typeface="Tahoma"/>
                <a:cs typeface="Tahoma"/>
              </a:rPr>
              <a:t>and</a:t>
            </a:r>
            <a:r>
              <a:rPr sz="3800" spc="-245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financial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risk.</a:t>
            </a:r>
            <a:r>
              <a:rPr sz="3800" spc="-250" dirty="0">
                <a:latin typeface="Tahoma"/>
                <a:cs typeface="Tahoma"/>
              </a:rPr>
              <a:t> </a:t>
            </a:r>
            <a:r>
              <a:rPr sz="3800" spc="-20" dirty="0">
                <a:latin typeface="Tahoma"/>
                <a:cs typeface="Tahoma"/>
              </a:rPr>
              <a:t>This </a:t>
            </a:r>
            <a:r>
              <a:rPr sz="3800" spc="-85" dirty="0">
                <a:latin typeface="Tahoma"/>
                <a:cs typeface="Tahoma"/>
              </a:rPr>
              <a:t>project</a:t>
            </a:r>
            <a:r>
              <a:rPr sz="3800" spc="-204" dirty="0">
                <a:latin typeface="Tahoma"/>
                <a:cs typeface="Tahoma"/>
              </a:rPr>
              <a:t> </a:t>
            </a:r>
            <a:r>
              <a:rPr sz="3800" spc="-60" dirty="0">
                <a:latin typeface="Tahoma"/>
                <a:cs typeface="Tahoma"/>
              </a:rPr>
              <a:t>develops</a:t>
            </a:r>
            <a:r>
              <a:rPr sz="3800" spc="-204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a</a:t>
            </a:r>
            <a:r>
              <a:rPr sz="3800" spc="-200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Machine</a:t>
            </a:r>
            <a:r>
              <a:rPr sz="3800" spc="-204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Learning-</a:t>
            </a:r>
            <a:r>
              <a:rPr sz="3800" dirty="0">
                <a:latin typeface="Tahoma"/>
                <a:cs typeface="Tahoma"/>
              </a:rPr>
              <a:t>based</a:t>
            </a:r>
            <a:r>
              <a:rPr sz="3800" spc="-200" dirty="0">
                <a:latin typeface="Tahoma"/>
                <a:cs typeface="Tahoma"/>
              </a:rPr>
              <a:t> </a:t>
            </a:r>
            <a:r>
              <a:rPr sz="3800" spc="-30" dirty="0">
                <a:latin typeface="Tahoma"/>
                <a:cs typeface="Tahoma"/>
              </a:rPr>
              <a:t>system</a:t>
            </a:r>
            <a:r>
              <a:rPr sz="3800" spc="-204" dirty="0">
                <a:latin typeface="Tahoma"/>
                <a:cs typeface="Tahoma"/>
              </a:rPr>
              <a:t> </a:t>
            </a:r>
            <a:r>
              <a:rPr sz="3800" spc="-95" dirty="0">
                <a:latin typeface="Tahoma"/>
                <a:cs typeface="Tahoma"/>
              </a:rPr>
              <a:t>to</a:t>
            </a:r>
            <a:r>
              <a:rPr sz="3800" spc="-200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automatically</a:t>
            </a:r>
            <a:r>
              <a:rPr sz="3800" spc="-204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classify</a:t>
            </a:r>
            <a:r>
              <a:rPr sz="3800" spc="-200" dirty="0">
                <a:latin typeface="Tahoma"/>
                <a:cs typeface="Tahoma"/>
              </a:rPr>
              <a:t> </a:t>
            </a:r>
            <a:r>
              <a:rPr sz="3800" spc="185" dirty="0">
                <a:latin typeface="Tahoma"/>
                <a:cs typeface="Tahoma"/>
              </a:rPr>
              <a:t>SMS </a:t>
            </a:r>
            <a:r>
              <a:rPr sz="3800" spc="-25" dirty="0">
                <a:latin typeface="Tahoma"/>
                <a:cs typeface="Tahoma"/>
              </a:rPr>
              <a:t>messages</a:t>
            </a:r>
            <a:r>
              <a:rPr sz="3800" spc="-220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as</a:t>
            </a:r>
            <a:r>
              <a:rPr sz="3800" spc="-21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Spam</a:t>
            </a:r>
            <a:r>
              <a:rPr sz="3800" spc="-21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or</a:t>
            </a:r>
            <a:r>
              <a:rPr sz="3800" spc="-21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Ham</a:t>
            </a:r>
            <a:r>
              <a:rPr sz="3800" spc="-220" dirty="0">
                <a:latin typeface="Tahoma"/>
                <a:cs typeface="Tahoma"/>
              </a:rPr>
              <a:t> </a:t>
            </a:r>
            <a:r>
              <a:rPr sz="3800" spc="-100" dirty="0">
                <a:latin typeface="Tahoma"/>
                <a:cs typeface="Tahoma"/>
              </a:rPr>
              <a:t>(Not</a:t>
            </a:r>
            <a:r>
              <a:rPr sz="3800" spc="-215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Spam).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09650">
              <a:lnSpc>
                <a:spcPct val="100000"/>
              </a:lnSpc>
              <a:spcBef>
                <a:spcPts val="120"/>
              </a:spcBef>
            </a:pPr>
            <a:r>
              <a:rPr sz="3550" spc="325" dirty="0"/>
              <a:t>OBJECTIVE</a:t>
            </a:r>
            <a:endParaRPr sz="3550"/>
          </a:p>
        </p:txBody>
      </p:sp>
      <p:sp>
        <p:nvSpPr>
          <p:cNvPr id="3" name="object 3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649" y="3234381"/>
            <a:ext cx="180975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649" y="4263081"/>
            <a:ext cx="180975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649" y="5291781"/>
            <a:ext cx="180975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649" y="6320480"/>
            <a:ext cx="180975" cy="1809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26896" y="2978412"/>
            <a:ext cx="13388340" cy="3735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100" spc="-690" dirty="0">
                <a:latin typeface="Tahoma"/>
                <a:cs typeface="Tahoma"/>
              </a:rPr>
              <a:t>T</a:t>
            </a:r>
            <a:r>
              <a:rPr sz="4100" spc="-65" dirty="0">
                <a:latin typeface="Tahoma"/>
                <a:cs typeface="Tahoma"/>
              </a:rPr>
              <a:t>o</a:t>
            </a:r>
            <a:r>
              <a:rPr sz="4100" spc="-245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build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a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65" dirty="0">
                <a:latin typeface="Tahoma"/>
                <a:cs typeface="Tahoma"/>
              </a:rPr>
              <a:t>model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70" dirty="0">
                <a:latin typeface="Tahoma"/>
                <a:cs typeface="Tahoma"/>
              </a:rPr>
              <a:t>that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55" dirty="0">
                <a:latin typeface="Tahoma"/>
                <a:cs typeface="Tahoma"/>
              </a:rPr>
              <a:t>detects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30" dirty="0">
                <a:latin typeface="Tahoma"/>
                <a:cs typeface="Tahoma"/>
              </a:rPr>
              <a:t>spam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25" dirty="0">
                <a:latin typeface="Tahoma"/>
                <a:cs typeface="Tahoma"/>
              </a:rPr>
              <a:t>messages</a:t>
            </a:r>
            <a:r>
              <a:rPr sz="4100" spc="-245" dirty="0">
                <a:latin typeface="Tahoma"/>
                <a:cs typeface="Tahoma"/>
              </a:rPr>
              <a:t> </a:t>
            </a:r>
            <a:r>
              <a:rPr sz="4100" spc="-25" dirty="0">
                <a:latin typeface="Tahoma"/>
                <a:cs typeface="Tahoma"/>
              </a:rPr>
              <a:t>automatically.</a:t>
            </a:r>
            <a:endParaRPr sz="4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80"/>
              </a:spcBef>
            </a:pPr>
            <a:r>
              <a:rPr sz="4100" spc="-690" dirty="0">
                <a:latin typeface="Tahoma"/>
                <a:cs typeface="Tahoma"/>
              </a:rPr>
              <a:t>T</a:t>
            </a:r>
            <a:r>
              <a:rPr sz="4100" spc="-65" dirty="0">
                <a:latin typeface="Tahoma"/>
                <a:cs typeface="Tahoma"/>
              </a:rPr>
              <a:t>o</a:t>
            </a:r>
            <a:r>
              <a:rPr sz="4100" spc="-225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classify</a:t>
            </a:r>
            <a:r>
              <a:rPr sz="4100" spc="-220" dirty="0">
                <a:latin typeface="Tahoma"/>
                <a:cs typeface="Tahoma"/>
              </a:rPr>
              <a:t> </a:t>
            </a:r>
            <a:r>
              <a:rPr sz="4100" spc="-25" dirty="0">
                <a:latin typeface="Tahoma"/>
                <a:cs typeface="Tahoma"/>
              </a:rPr>
              <a:t>messages</a:t>
            </a:r>
            <a:r>
              <a:rPr sz="4100" spc="-220" dirty="0">
                <a:latin typeface="Tahoma"/>
                <a:cs typeface="Tahoma"/>
              </a:rPr>
              <a:t> </a:t>
            </a:r>
            <a:r>
              <a:rPr sz="4100" spc="-70" dirty="0">
                <a:latin typeface="Tahoma"/>
                <a:cs typeface="Tahoma"/>
              </a:rPr>
              <a:t>into</a:t>
            </a:r>
            <a:r>
              <a:rPr sz="4100" spc="-220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Spam</a:t>
            </a:r>
            <a:r>
              <a:rPr sz="4100" spc="-220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or</a:t>
            </a:r>
            <a:r>
              <a:rPr sz="4100" spc="-220" dirty="0">
                <a:latin typeface="Tahoma"/>
                <a:cs typeface="Tahoma"/>
              </a:rPr>
              <a:t> </a:t>
            </a:r>
            <a:r>
              <a:rPr sz="4100" spc="-20" dirty="0">
                <a:latin typeface="Tahoma"/>
                <a:cs typeface="Tahoma"/>
              </a:rPr>
              <a:t>Ham.</a:t>
            </a:r>
            <a:endParaRPr sz="4100">
              <a:latin typeface="Tahoma"/>
              <a:cs typeface="Tahoma"/>
            </a:endParaRPr>
          </a:p>
          <a:p>
            <a:pPr marL="12700" marR="1768475">
              <a:lnSpc>
                <a:spcPct val="164600"/>
              </a:lnSpc>
            </a:pPr>
            <a:r>
              <a:rPr sz="4100" spc="-690" dirty="0">
                <a:latin typeface="Tahoma"/>
                <a:cs typeface="Tahoma"/>
              </a:rPr>
              <a:t>T</a:t>
            </a:r>
            <a:r>
              <a:rPr sz="4100" spc="-65" dirty="0">
                <a:latin typeface="Tahoma"/>
                <a:cs typeface="Tahoma"/>
              </a:rPr>
              <a:t>o</a:t>
            </a:r>
            <a:r>
              <a:rPr sz="4100" spc="-270" dirty="0">
                <a:latin typeface="Tahoma"/>
                <a:cs typeface="Tahoma"/>
              </a:rPr>
              <a:t> </a:t>
            </a:r>
            <a:r>
              <a:rPr sz="4100" spc="-40" dirty="0">
                <a:latin typeface="Tahoma"/>
                <a:cs typeface="Tahoma"/>
              </a:rPr>
              <a:t>analyze</a:t>
            </a:r>
            <a:r>
              <a:rPr sz="4100" spc="-265" dirty="0">
                <a:latin typeface="Tahoma"/>
                <a:cs typeface="Tahoma"/>
              </a:rPr>
              <a:t> </a:t>
            </a:r>
            <a:r>
              <a:rPr sz="4100" spc="-20" dirty="0">
                <a:latin typeface="Tahoma"/>
                <a:cs typeface="Tahoma"/>
              </a:rPr>
              <a:t>manually</a:t>
            </a:r>
            <a:r>
              <a:rPr sz="4100" spc="-265" dirty="0">
                <a:latin typeface="Tahoma"/>
                <a:cs typeface="Tahoma"/>
              </a:rPr>
              <a:t> </a:t>
            </a:r>
            <a:r>
              <a:rPr sz="4100" spc="-80" dirty="0">
                <a:latin typeface="Tahoma"/>
                <a:cs typeface="Tahoma"/>
              </a:rPr>
              <a:t>entered</a:t>
            </a:r>
            <a:r>
              <a:rPr sz="4100" spc="-265" dirty="0">
                <a:latin typeface="Tahoma"/>
                <a:cs typeface="Tahoma"/>
              </a:rPr>
              <a:t> </a:t>
            </a:r>
            <a:r>
              <a:rPr sz="4100" spc="-25" dirty="0">
                <a:latin typeface="Tahoma"/>
                <a:cs typeface="Tahoma"/>
              </a:rPr>
              <a:t>messages</a:t>
            </a:r>
            <a:r>
              <a:rPr sz="4100" spc="-270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in</a:t>
            </a:r>
            <a:r>
              <a:rPr sz="4100" spc="-265" dirty="0">
                <a:latin typeface="Tahoma"/>
                <a:cs typeface="Tahoma"/>
              </a:rPr>
              <a:t> </a:t>
            </a:r>
            <a:r>
              <a:rPr sz="4100" spc="-50" dirty="0">
                <a:latin typeface="Tahoma"/>
                <a:cs typeface="Tahoma"/>
              </a:rPr>
              <a:t>real</a:t>
            </a:r>
            <a:r>
              <a:rPr sz="4100" spc="-265" dirty="0">
                <a:latin typeface="Tahoma"/>
                <a:cs typeface="Tahoma"/>
              </a:rPr>
              <a:t> </a:t>
            </a:r>
            <a:r>
              <a:rPr sz="4100" spc="-10" dirty="0">
                <a:latin typeface="Tahoma"/>
                <a:cs typeface="Tahoma"/>
              </a:rPr>
              <a:t>time. </a:t>
            </a:r>
            <a:r>
              <a:rPr sz="4100" spc="-690" dirty="0">
                <a:latin typeface="Tahoma"/>
                <a:cs typeface="Tahoma"/>
              </a:rPr>
              <a:t>T</a:t>
            </a:r>
            <a:r>
              <a:rPr sz="4100" spc="-65" dirty="0">
                <a:latin typeface="Tahoma"/>
                <a:cs typeface="Tahoma"/>
              </a:rPr>
              <a:t>o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120" dirty="0">
                <a:latin typeface="Tahoma"/>
                <a:cs typeface="Tahoma"/>
              </a:rPr>
              <a:t>improve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dirty="0">
                <a:latin typeface="Tahoma"/>
                <a:cs typeface="Tahoma"/>
              </a:rPr>
              <a:t>accuracy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30" dirty="0">
                <a:latin typeface="Tahoma"/>
                <a:cs typeface="Tahoma"/>
              </a:rPr>
              <a:t>using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100" dirty="0">
                <a:latin typeface="Tahoma"/>
                <a:cs typeface="Tahoma"/>
              </a:rPr>
              <a:t>common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30" dirty="0">
                <a:latin typeface="Tahoma"/>
                <a:cs typeface="Tahoma"/>
              </a:rPr>
              <a:t>spam</a:t>
            </a:r>
            <a:r>
              <a:rPr sz="4100" spc="-240" dirty="0">
                <a:latin typeface="Tahoma"/>
                <a:cs typeface="Tahoma"/>
              </a:rPr>
              <a:t> </a:t>
            </a:r>
            <a:r>
              <a:rPr sz="4100" spc="-65" dirty="0">
                <a:latin typeface="Tahoma"/>
                <a:cs typeface="Tahoma"/>
              </a:rPr>
              <a:t>keywords.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120"/>
              </a:spcBef>
            </a:pPr>
            <a:r>
              <a:rPr sz="3450" spc="245" dirty="0"/>
              <a:t>METHODOLOGY</a:t>
            </a:r>
            <a:endParaRPr sz="3450"/>
          </a:p>
        </p:txBody>
      </p:sp>
      <p:sp>
        <p:nvSpPr>
          <p:cNvPr id="3" name="object 3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00" y="3425490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00" y="4282740"/>
            <a:ext cx="152400" cy="152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32825" y="4485972"/>
            <a:ext cx="1250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latin typeface="Tahoma"/>
                <a:cs typeface="Tahoma"/>
              </a:rPr>
              <a:t>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00" y="513999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00" y="5997240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00" y="6854490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66846" y="3200097"/>
            <a:ext cx="14397990" cy="397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latin typeface="Tahoma"/>
                <a:cs typeface="Tahoma"/>
              </a:rPr>
              <a:t>Collected</a:t>
            </a:r>
            <a:r>
              <a:rPr sz="3400" spc="-180" dirty="0">
                <a:latin typeface="Tahoma"/>
                <a:cs typeface="Tahoma"/>
              </a:rPr>
              <a:t> </a:t>
            </a:r>
            <a:r>
              <a:rPr sz="3400" spc="175" dirty="0">
                <a:latin typeface="Tahoma"/>
                <a:cs typeface="Tahoma"/>
              </a:rPr>
              <a:t>SMS</a:t>
            </a:r>
            <a:r>
              <a:rPr sz="3400" spc="-180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Spam</a:t>
            </a:r>
            <a:r>
              <a:rPr sz="3400" spc="-17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dataset.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ct val="165400"/>
              </a:lnSpc>
            </a:pPr>
            <a:r>
              <a:rPr sz="3400" spc="-10" dirty="0">
                <a:latin typeface="Tahoma"/>
                <a:cs typeface="Tahoma"/>
              </a:rPr>
              <a:t>Preprocessed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140" dirty="0">
                <a:latin typeface="Tahoma"/>
                <a:cs typeface="Tahoma"/>
              </a:rPr>
              <a:t>text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120" dirty="0">
                <a:latin typeface="Tahoma"/>
                <a:cs typeface="Tahoma"/>
              </a:rPr>
              <a:t>(lowercase,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80" dirty="0">
                <a:latin typeface="Tahoma"/>
                <a:cs typeface="Tahoma"/>
              </a:rPr>
              <a:t>removed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35" dirty="0">
                <a:latin typeface="Tahoma"/>
                <a:cs typeface="Tahoma"/>
              </a:rPr>
              <a:t>punctuation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20" dirty="0">
                <a:latin typeface="Tahoma"/>
                <a:cs typeface="Tahoma"/>
              </a:rPr>
              <a:t>and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105" dirty="0">
                <a:latin typeface="Tahoma"/>
                <a:cs typeface="Tahoma"/>
              </a:rPr>
              <a:t>unwanted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characters) </a:t>
            </a:r>
            <a:r>
              <a:rPr sz="3400" spc="-55" dirty="0">
                <a:latin typeface="Tahoma"/>
                <a:cs typeface="Tahoma"/>
              </a:rPr>
              <a:t>Converted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140" dirty="0">
                <a:latin typeface="Tahoma"/>
                <a:cs typeface="Tahoma"/>
              </a:rPr>
              <a:t>text</a:t>
            </a:r>
            <a:r>
              <a:rPr sz="3400" spc="-190" dirty="0">
                <a:latin typeface="Tahoma"/>
                <a:cs typeface="Tahoma"/>
              </a:rPr>
              <a:t> </a:t>
            </a:r>
            <a:r>
              <a:rPr sz="3400" spc="-60" dirty="0">
                <a:latin typeface="Tahoma"/>
                <a:cs typeface="Tahoma"/>
              </a:rPr>
              <a:t>into</a:t>
            </a:r>
            <a:r>
              <a:rPr sz="3400" spc="-190" dirty="0">
                <a:latin typeface="Tahoma"/>
                <a:cs typeface="Tahoma"/>
              </a:rPr>
              <a:t> </a:t>
            </a:r>
            <a:r>
              <a:rPr sz="3400" spc="-25" dirty="0">
                <a:latin typeface="Tahoma"/>
                <a:cs typeface="Tahoma"/>
              </a:rPr>
              <a:t>numerical</a:t>
            </a:r>
            <a:r>
              <a:rPr sz="3400" spc="-195" dirty="0">
                <a:latin typeface="Tahoma"/>
                <a:cs typeface="Tahoma"/>
              </a:rPr>
              <a:t> </a:t>
            </a:r>
            <a:r>
              <a:rPr sz="3400" spc="-45" dirty="0">
                <a:latin typeface="Tahoma"/>
                <a:cs typeface="Tahoma"/>
              </a:rPr>
              <a:t>form</a:t>
            </a:r>
            <a:r>
              <a:rPr sz="3400" spc="-190" dirty="0">
                <a:latin typeface="Tahoma"/>
                <a:cs typeface="Tahoma"/>
              </a:rPr>
              <a:t> </a:t>
            </a:r>
            <a:r>
              <a:rPr sz="3400" spc="-25" dirty="0">
                <a:latin typeface="Tahoma"/>
                <a:cs typeface="Tahoma"/>
              </a:rPr>
              <a:t>using</a:t>
            </a:r>
            <a:r>
              <a:rPr sz="3400" spc="-190" dirty="0">
                <a:latin typeface="Tahoma"/>
                <a:cs typeface="Tahoma"/>
              </a:rPr>
              <a:t> </a:t>
            </a:r>
            <a:r>
              <a:rPr sz="3400" spc="50" dirty="0">
                <a:latin typeface="Tahoma"/>
                <a:cs typeface="Tahoma"/>
              </a:rPr>
              <a:t>TF-</a:t>
            </a:r>
            <a:r>
              <a:rPr sz="3400" spc="-20" dirty="0">
                <a:latin typeface="Tahoma"/>
                <a:cs typeface="Tahoma"/>
              </a:rPr>
              <a:t>IDF.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3400" spc="-40" dirty="0">
                <a:latin typeface="Tahoma"/>
                <a:cs typeface="Tahoma"/>
              </a:rPr>
              <a:t>Trained</a:t>
            </a:r>
            <a:r>
              <a:rPr sz="3400" spc="-220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a</a:t>
            </a:r>
            <a:r>
              <a:rPr sz="3400" spc="-220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Naive</a:t>
            </a:r>
            <a:r>
              <a:rPr sz="3400" spc="-220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bayes</a:t>
            </a:r>
            <a:r>
              <a:rPr sz="3400" spc="-220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model.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3400" spc="-85" dirty="0">
                <a:latin typeface="Tahoma"/>
                <a:cs typeface="Tahoma"/>
              </a:rPr>
              <a:t>Integrated</a:t>
            </a:r>
            <a:r>
              <a:rPr sz="3400" spc="-210" dirty="0">
                <a:latin typeface="Tahoma"/>
                <a:cs typeface="Tahoma"/>
              </a:rPr>
              <a:t> </a:t>
            </a:r>
            <a:r>
              <a:rPr sz="3400" spc="-114" dirty="0">
                <a:latin typeface="Tahoma"/>
                <a:cs typeface="Tahoma"/>
              </a:rPr>
              <a:t>with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a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55" dirty="0">
                <a:latin typeface="Tahoma"/>
                <a:cs typeface="Tahoma"/>
              </a:rPr>
              <a:t>frontend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20" dirty="0">
                <a:latin typeface="Tahoma"/>
                <a:cs typeface="Tahoma"/>
              </a:rPr>
              <a:t>and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30" dirty="0">
                <a:latin typeface="Tahoma"/>
                <a:cs typeface="Tahoma"/>
              </a:rPr>
              <a:t>backend</a:t>
            </a:r>
            <a:r>
              <a:rPr sz="3400" spc="-210" dirty="0">
                <a:latin typeface="Tahoma"/>
                <a:cs typeface="Tahoma"/>
              </a:rPr>
              <a:t> </a:t>
            </a:r>
            <a:r>
              <a:rPr sz="3400" spc="-30" dirty="0">
                <a:latin typeface="Tahoma"/>
                <a:cs typeface="Tahoma"/>
              </a:rPr>
              <a:t>for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45" dirty="0">
                <a:latin typeface="Tahoma"/>
                <a:cs typeface="Tahoma"/>
              </a:rPr>
              <a:t>real-</a:t>
            </a:r>
            <a:r>
              <a:rPr sz="3400" spc="-60" dirty="0">
                <a:latin typeface="Tahoma"/>
                <a:cs typeface="Tahoma"/>
              </a:rPr>
              <a:t>time</a:t>
            </a:r>
            <a:r>
              <a:rPr sz="3400" spc="-204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prediction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699" y="2790375"/>
            <a:ext cx="16220440" cy="6468110"/>
          </a:xfrm>
          <a:custGeom>
            <a:avLst/>
            <a:gdLst/>
            <a:ahLst/>
            <a:cxnLst/>
            <a:rect l="l" t="t" r="r" b="b"/>
            <a:pathLst>
              <a:path w="16220440" h="6468109">
                <a:moveTo>
                  <a:pt x="16087724" y="6467924"/>
                </a:moveTo>
                <a:lnTo>
                  <a:pt x="142875" y="6467924"/>
                </a:lnTo>
                <a:lnTo>
                  <a:pt x="114871" y="6465153"/>
                </a:lnTo>
                <a:lnTo>
                  <a:pt x="63607" y="6443919"/>
                </a:lnTo>
                <a:lnTo>
                  <a:pt x="24004" y="6404316"/>
                </a:lnTo>
                <a:lnTo>
                  <a:pt x="2770" y="6353052"/>
                </a:lnTo>
                <a:lnTo>
                  <a:pt x="0" y="6325048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16087724" y="0"/>
                </a:lnTo>
                <a:lnTo>
                  <a:pt x="16115728" y="2770"/>
                </a:lnTo>
                <a:lnTo>
                  <a:pt x="16166992" y="24004"/>
                </a:lnTo>
                <a:lnTo>
                  <a:pt x="16206595" y="63607"/>
                </a:lnTo>
                <a:lnTo>
                  <a:pt x="16220340" y="90226"/>
                </a:lnTo>
                <a:lnTo>
                  <a:pt x="16220340" y="6377697"/>
                </a:lnTo>
                <a:lnTo>
                  <a:pt x="16188753" y="6426076"/>
                </a:lnTo>
                <a:lnTo>
                  <a:pt x="16142400" y="6457048"/>
                </a:lnTo>
                <a:lnTo>
                  <a:pt x="16087724" y="646792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52830">
              <a:lnSpc>
                <a:spcPct val="100000"/>
              </a:lnSpc>
              <a:spcBef>
                <a:spcPts val="120"/>
              </a:spcBef>
            </a:pPr>
            <a:r>
              <a:rPr sz="3050" spc="125" dirty="0"/>
              <a:t>FLOW</a:t>
            </a:r>
            <a:r>
              <a:rPr sz="3050" spc="-145" dirty="0"/>
              <a:t> </a:t>
            </a:r>
            <a:r>
              <a:rPr sz="3050" spc="245" dirty="0"/>
              <a:t>CHART</a:t>
            </a:r>
            <a:endParaRPr sz="305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indent="-377825">
              <a:lnSpc>
                <a:spcPts val="3760"/>
              </a:lnSpc>
              <a:spcBef>
                <a:spcPts val="100"/>
              </a:spcBef>
              <a:buSzPct val="98550"/>
              <a:buAutoNum type="arabicPeriod"/>
              <a:tabLst>
                <a:tab pos="382905" algn="l"/>
              </a:tabLst>
            </a:pPr>
            <a:r>
              <a:rPr spc="-10" dirty="0"/>
              <a:t>Start</a:t>
            </a:r>
          </a:p>
          <a:p>
            <a:pPr marL="478790" indent="-466090">
              <a:lnSpc>
                <a:spcPts val="3375"/>
              </a:lnSpc>
              <a:buSzPct val="98550"/>
              <a:buAutoNum type="arabicPeriod"/>
              <a:tabLst>
                <a:tab pos="478790" algn="l"/>
              </a:tabLst>
            </a:pPr>
            <a:r>
              <a:rPr dirty="0"/>
              <a:t>Load</a:t>
            </a:r>
            <a:r>
              <a:rPr spc="-195" dirty="0"/>
              <a:t> </a:t>
            </a:r>
            <a:r>
              <a:rPr spc="175" dirty="0"/>
              <a:t>SMS</a:t>
            </a:r>
            <a:r>
              <a:rPr spc="-190" dirty="0"/>
              <a:t> </a:t>
            </a:r>
            <a:r>
              <a:rPr spc="-10" dirty="0"/>
              <a:t>Dataset</a:t>
            </a:r>
          </a:p>
          <a:p>
            <a:pPr marL="489584" indent="-476884">
              <a:lnSpc>
                <a:spcPts val="3375"/>
              </a:lnSpc>
              <a:buSzPct val="98550"/>
              <a:buAutoNum type="arabicPeriod"/>
              <a:tabLst>
                <a:tab pos="489584" algn="l"/>
              </a:tabLst>
            </a:pPr>
            <a:r>
              <a:rPr dirty="0"/>
              <a:t>Check</a:t>
            </a:r>
            <a:r>
              <a:rPr spc="-210" dirty="0"/>
              <a:t> </a:t>
            </a:r>
            <a:r>
              <a:rPr dirty="0"/>
              <a:t>if</a:t>
            </a:r>
            <a:r>
              <a:rPr spc="-210" dirty="0"/>
              <a:t> </a:t>
            </a:r>
            <a:r>
              <a:rPr spc="-20" dirty="0"/>
              <a:t>data</a:t>
            </a:r>
            <a:r>
              <a:rPr spc="-210" dirty="0"/>
              <a:t> </a:t>
            </a:r>
            <a:r>
              <a:rPr dirty="0"/>
              <a:t>is</a:t>
            </a:r>
            <a:r>
              <a:rPr spc="-210" dirty="0"/>
              <a:t> </a:t>
            </a:r>
            <a:r>
              <a:rPr spc="-10" dirty="0"/>
              <a:t>preprocessed</a:t>
            </a: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 </a:t>
            </a:r>
            <a:r>
              <a:rPr sz="3450" dirty="0">
                <a:latin typeface="Tahoma"/>
                <a:cs typeface="Tahoma"/>
              </a:rPr>
              <a:t>No</a:t>
            </a:r>
            <a:r>
              <a:rPr sz="3450" spc="-225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22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Perform</a:t>
            </a:r>
            <a:r>
              <a:rPr sz="3450" spc="-22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Data</a:t>
            </a:r>
            <a:r>
              <a:rPr sz="3450" spc="-225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Preprocessing</a:t>
            </a:r>
            <a:endParaRPr sz="3450">
              <a:latin typeface="Tahoma"/>
              <a:cs typeface="Tahoma"/>
            </a:endParaRP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</a:t>
            </a:r>
            <a:r>
              <a:rPr sz="3450" spc="-215" dirty="0">
                <a:latin typeface="Tahoma"/>
                <a:cs typeface="Tahoma"/>
              </a:rPr>
              <a:t> </a:t>
            </a:r>
            <a:r>
              <a:rPr sz="3450" spc="-150" dirty="0">
                <a:latin typeface="Tahoma"/>
                <a:cs typeface="Tahoma"/>
              </a:rPr>
              <a:t>Yes</a:t>
            </a:r>
            <a:r>
              <a:rPr sz="3450" spc="-210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215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Continue</a:t>
            </a:r>
            <a:endParaRPr sz="3450">
              <a:latin typeface="Tahoma"/>
              <a:cs typeface="Tahoma"/>
            </a:endParaRPr>
          </a:p>
          <a:p>
            <a:pPr marL="488950" indent="-476250">
              <a:lnSpc>
                <a:spcPts val="3375"/>
              </a:lnSpc>
              <a:buSzPct val="98550"/>
              <a:buAutoNum type="arabicPeriod"/>
              <a:tabLst>
                <a:tab pos="488950" algn="l"/>
              </a:tabLst>
            </a:pPr>
            <a:r>
              <a:rPr dirty="0"/>
              <a:t>Apply</a:t>
            </a:r>
            <a:r>
              <a:rPr spc="-135" dirty="0"/>
              <a:t> </a:t>
            </a:r>
            <a:r>
              <a:rPr spc="50" dirty="0"/>
              <a:t>TF-</a:t>
            </a:r>
            <a:r>
              <a:rPr spc="-40" dirty="0"/>
              <a:t>IDF</a:t>
            </a:r>
            <a:r>
              <a:rPr spc="-130" dirty="0"/>
              <a:t> </a:t>
            </a:r>
            <a:r>
              <a:rPr spc="-10" dirty="0"/>
              <a:t>Vectorization</a:t>
            </a:r>
          </a:p>
          <a:p>
            <a:pPr marL="491490" indent="-478790">
              <a:lnSpc>
                <a:spcPts val="3375"/>
              </a:lnSpc>
              <a:buSzPct val="98550"/>
              <a:buAutoNum type="arabicPeriod"/>
              <a:tabLst>
                <a:tab pos="491490" algn="l"/>
              </a:tabLst>
            </a:pPr>
            <a:r>
              <a:rPr dirty="0"/>
              <a:t>Perform</a:t>
            </a:r>
            <a:r>
              <a:rPr spc="-229" dirty="0"/>
              <a:t> </a:t>
            </a:r>
            <a:r>
              <a:rPr spc="-10" dirty="0"/>
              <a:t>Classification</a:t>
            </a:r>
            <a:r>
              <a:rPr spc="-229" dirty="0"/>
              <a:t> </a:t>
            </a:r>
            <a:r>
              <a:rPr spc="-25" dirty="0"/>
              <a:t>using</a:t>
            </a:r>
            <a:r>
              <a:rPr spc="-225" dirty="0"/>
              <a:t> </a:t>
            </a:r>
            <a:r>
              <a:rPr spc="-10" dirty="0"/>
              <a:t>Naïve</a:t>
            </a:r>
            <a:r>
              <a:rPr spc="-229" dirty="0"/>
              <a:t> </a:t>
            </a:r>
            <a:r>
              <a:rPr spc="50" dirty="0"/>
              <a:t>Bayes</a:t>
            </a:r>
            <a:r>
              <a:rPr spc="-229" dirty="0"/>
              <a:t> </a:t>
            </a:r>
            <a:r>
              <a:rPr spc="-10" dirty="0"/>
              <a:t>Model</a:t>
            </a:r>
          </a:p>
          <a:p>
            <a:pPr marL="477520" indent="-464820">
              <a:lnSpc>
                <a:spcPts val="3375"/>
              </a:lnSpc>
              <a:buSzPct val="98550"/>
              <a:buAutoNum type="arabicPeriod"/>
              <a:tabLst>
                <a:tab pos="477520" algn="l"/>
              </a:tabLst>
            </a:pPr>
            <a:r>
              <a:rPr dirty="0"/>
              <a:t>Check</a:t>
            </a:r>
            <a:r>
              <a:rPr spc="-200" dirty="0"/>
              <a:t> </a:t>
            </a:r>
            <a:r>
              <a:rPr dirty="0"/>
              <a:t>if</a:t>
            </a:r>
            <a:r>
              <a:rPr spc="-200" dirty="0"/>
              <a:t> </a:t>
            </a:r>
            <a:r>
              <a:rPr spc="-40" dirty="0"/>
              <a:t>message</a:t>
            </a:r>
            <a:r>
              <a:rPr spc="-200" dirty="0"/>
              <a:t> </a:t>
            </a:r>
            <a:r>
              <a:rPr dirty="0"/>
              <a:t>is</a:t>
            </a:r>
            <a:r>
              <a:rPr spc="-195" dirty="0"/>
              <a:t> </a:t>
            </a:r>
            <a:r>
              <a:rPr spc="-20" dirty="0"/>
              <a:t>Spam</a:t>
            </a: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150" dirty="0">
                <a:latin typeface="Tahoma"/>
                <a:cs typeface="Tahoma"/>
              </a:rPr>
              <a:t>Yes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19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Label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as</a:t>
            </a:r>
            <a:r>
              <a:rPr sz="3450" spc="-19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Spam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19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Send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85" dirty="0">
                <a:latin typeface="Tahoma"/>
                <a:cs typeface="Tahoma"/>
              </a:rPr>
              <a:t>to</a:t>
            </a:r>
            <a:r>
              <a:rPr sz="3450" spc="-19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Spam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Folder</a:t>
            </a:r>
            <a:endParaRPr sz="3450">
              <a:latin typeface="Tahoma"/>
              <a:cs typeface="Tahoma"/>
            </a:endParaRP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</a:t>
            </a:r>
            <a:r>
              <a:rPr sz="3450" spc="-20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No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Label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as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Not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Spam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Send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85" dirty="0">
                <a:latin typeface="Tahoma"/>
                <a:cs typeface="Tahoma"/>
              </a:rPr>
              <a:t>to</a:t>
            </a:r>
            <a:r>
              <a:rPr sz="3450" spc="-195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Inbox</a:t>
            </a:r>
            <a:endParaRPr sz="3450">
              <a:latin typeface="Tahoma"/>
              <a:cs typeface="Tahoma"/>
            </a:endParaRPr>
          </a:p>
          <a:p>
            <a:pPr marL="461645" indent="-448945">
              <a:lnSpc>
                <a:spcPts val="3375"/>
              </a:lnSpc>
              <a:buSzPct val="98550"/>
              <a:buAutoNum type="arabicPeriod"/>
              <a:tabLst>
                <a:tab pos="461645" algn="l"/>
              </a:tabLst>
            </a:pPr>
            <a:r>
              <a:rPr spc="-35" dirty="0"/>
              <a:t>Repeat</a:t>
            </a:r>
            <a:r>
              <a:rPr spc="-200" dirty="0"/>
              <a:t> </a:t>
            </a:r>
            <a:r>
              <a:rPr dirty="0"/>
              <a:t>Spam</a:t>
            </a:r>
            <a:r>
              <a:rPr spc="-195" dirty="0"/>
              <a:t> </a:t>
            </a:r>
            <a:r>
              <a:rPr dirty="0"/>
              <a:t>Check</a:t>
            </a:r>
            <a:r>
              <a:rPr spc="-195" dirty="0"/>
              <a:t> </a:t>
            </a:r>
            <a:r>
              <a:rPr spc="-65" dirty="0"/>
              <a:t>(Validation</a:t>
            </a:r>
            <a:r>
              <a:rPr spc="-195" dirty="0"/>
              <a:t> </a:t>
            </a:r>
            <a:r>
              <a:rPr spc="-10" dirty="0"/>
              <a:t>Step)</a:t>
            </a: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spc="-150" dirty="0">
                <a:latin typeface="Tahoma"/>
                <a:cs typeface="Tahoma"/>
              </a:rPr>
              <a:t>Yes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Send</a:t>
            </a:r>
            <a:r>
              <a:rPr sz="3450" spc="-200" dirty="0">
                <a:latin typeface="Tahoma"/>
                <a:cs typeface="Tahoma"/>
              </a:rPr>
              <a:t> </a:t>
            </a:r>
            <a:r>
              <a:rPr sz="3450" spc="-85" dirty="0">
                <a:latin typeface="Tahoma"/>
                <a:cs typeface="Tahoma"/>
              </a:rPr>
              <a:t>to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Spam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Folder</a:t>
            </a:r>
            <a:endParaRPr sz="3450">
              <a:latin typeface="Tahoma"/>
              <a:cs typeface="Tahoma"/>
            </a:endParaRPr>
          </a:p>
          <a:p>
            <a:pPr marL="608965" lvl="1" indent="-270510">
              <a:lnSpc>
                <a:spcPts val="3375"/>
              </a:lnSpc>
              <a:buChar char="-"/>
              <a:tabLst>
                <a:tab pos="608965" algn="l"/>
              </a:tabLst>
            </a:pPr>
            <a:r>
              <a:rPr sz="3450" spc="-225" dirty="0">
                <a:latin typeface="Tahoma"/>
                <a:cs typeface="Tahoma"/>
              </a:rPr>
              <a:t>If</a:t>
            </a:r>
            <a:r>
              <a:rPr sz="3450" spc="-21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No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spc="-760" dirty="0">
                <a:latin typeface="Tahoma"/>
                <a:cs typeface="Tahoma"/>
              </a:rPr>
              <a:t>→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Send</a:t>
            </a:r>
            <a:r>
              <a:rPr sz="3450" spc="-210" dirty="0">
                <a:latin typeface="Tahoma"/>
                <a:cs typeface="Tahoma"/>
              </a:rPr>
              <a:t> </a:t>
            </a:r>
            <a:r>
              <a:rPr sz="3450" spc="-85" dirty="0">
                <a:latin typeface="Tahoma"/>
                <a:cs typeface="Tahoma"/>
              </a:rPr>
              <a:t>to</a:t>
            </a:r>
            <a:r>
              <a:rPr sz="3450" spc="-204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Inbox</a:t>
            </a:r>
            <a:endParaRPr sz="3450">
              <a:latin typeface="Tahoma"/>
              <a:cs typeface="Tahoma"/>
            </a:endParaRPr>
          </a:p>
          <a:p>
            <a:pPr marL="474980" indent="-462280">
              <a:lnSpc>
                <a:spcPts val="3754"/>
              </a:lnSpc>
              <a:buSzPct val="98550"/>
              <a:buAutoNum type="arabicPeriod"/>
              <a:tabLst>
                <a:tab pos="474980" algn="l"/>
              </a:tabLst>
            </a:pPr>
            <a:r>
              <a:rPr spc="-20" dirty="0"/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13790">
              <a:lnSpc>
                <a:spcPct val="100000"/>
              </a:lnSpc>
              <a:spcBef>
                <a:spcPts val="120"/>
              </a:spcBef>
            </a:pPr>
            <a:r>
              <a:rPr spc="275" dirty="0"/>
              <a:t>OUTCOMES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3173546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3611696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4049846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4487995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4926145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5364295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5802445"/>
            <a:ext cx="152400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6240595"/>
            <a:ext cx="152400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6678745"/>
            <a:ext cx="152400" cy="152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323" y="7116895"/>
            <a:ext cx="152400" cy="1523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09224" y="2945009"/>
            <a:ext cx="6562725" cy="450215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3317875" algn="just">
              <a:lnSpc>
                <a:spcPts val="3450"/>
              </a:lnSpc>
              <a:spcBef>
                <a:spcPts val="840"/>
              </a:spcBef>
            </a:pPr>
            <a:r>
              <a:rPr sz="3500" spc="-40" dirty="0">
                <a:latin typeface="Tahoma"/>
                <a:cs typeface="Tahoma"/>
              </a:rPr>
              <a:t>Precision:</a:t>
            </a:r>
            <a:r>
              <a:rPr sz="3500" spc="-180" dirty="0">
                <a:latin typeface="Tahoma"/>
                <a:cs typeface="Tahoma"/>
              </a:rPr>
              <a:t> </a:t>
            </a:r>
            <a:r>
              <a:rPr sz="3500" spc="-60" dirty="0">
                <a:latin typeface="Tahoma"/>
                <a:cs typeface="Tahoma"/>
              </a:rPr>
              <a:t>97.6% </a:t>
            </a:r>
            <a:r>
              <a:rPr sz="3500" spc="-65" dirty="0">
                <a:latin typeface="Tahoma"/>
                <a:cs typeface="Tahoma"/>
              </a:rPr>
              <a:t>Recall:</a:t>
            </a:r>
            <a:r>
              <a:rPr sz="3500" spc="-210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94.2%</a:t>
            </a:r>
            <a:endParaRPr sz="3500">
              <a:latin typeface="Tahoma"/>
              <a:cs typeface="Tahoma"/>
            </a:endParaRPr>
          </a:p>
          <a:p>
            <a:pPr marL="12700" marR="1789430" algn="just">
              <a:lnSpc>
                <a:spcPts val="3450"/>
              </a:lnSpc>
            </a:pPr>
            <a:r>
              <a:rPr sz="3500" spc="-20" dirty="0">
                <a:latin typeface="Tahoma"/>
                <a:cs typeface="Tahoma"/>
              </a:rPr>
              <a:t>False</a:t>
            </a:r>
            <a:r>
              <a:rPr sz="3500" spc="-229" dirty="0">
                <a:latin typeface="Tahoma"/>
                <a:cs typeface="Tahoma"/>
              </a:rPr>
              <a:t> </a:t>
            </a:r>
            <a:r>
              <a:rPr sz="3500" spc="-55" dirty="0">
                <a:latin typeface="Tahoma"/>
                <a:cs typeface="Tahoma"/>
              </a:rPr>
              <a:t>positive</a:t>
            </a:r>
            <a:r>
              <a:rPr sz="3500" spc="-165" dirty="0">
                <a:latin typeface="Tahoma"/>
                <a:cs typeface="Tahoma"/>
              </a:rPr>
              <a:t> </a:t>
            </a:r>
            <a:r>
              <a:rPr sz="3500" spc="-170" dirty="0">
                <a:latin typeface="Tahoma"/>
                <a:cs typeface="Tahoma"/>
              </a:rPr>
              <a:t>rate:</a:t>
            </a:r>
            <a:r>
              <a:rPr sz="3500" spc="-105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0.8% </a:t>
            </a:r>
            <a:r>
              <a:rPr sz="3500" spc="-50" dirty="0">
                <a:latin typeface="Tahoma"/>
                <a:cs typeface="Tahoma"/>
              </a:rPr>
              <a:t>Detection</a:t>
            </a:r>
            <a:r>
              <a:rPr sz="3500" spc="-195" dirty="0">
                <a:latin typeface="Tahoma"/>
                <a:cs typeface="Tahoma"/>
              </a:rPr>
              <a:t> </a:t>
            </a:r>
            <a:r>
              <a:rPr sz="3500" spc="-85" dirty="0">
                <a:latin typeface="Tahoma"/>
                <a:cs typeface="Tahoma"/>
              </a:rPr>
              <a:t>latency:</a:t>
            </a:r>
            <a:r>
              <a:rPr sz="3500" spc="-190" dirty="0">
                <a:latin typeface="Tahoma"/>
                <a:cs typeface="Tahoma"/>
              </a:rPr>
              <a:t> </a:t>
            </a:r>
            <a:r>
              <a:rPr sz="3500" spc="235" dirty="0">
                <a:latin typeface="Tahoma"/>
                <a:cs typeface="Tahoma"/>
              </a:rPr>
              <a:t>35</a:t>
            </a:r>
            <a:r>
              <a:rPr sz="3500" spc="-195" dirty="0">
                <a:latin typeface="Tahoma"/>
                <a:cs typeface="Tahoma"/>
              </a:rPr>
              <a:t> </a:t>
            </a:r>
            <a:r>
              <a:rPr sz="3500" spc="-25" dirty="0">
                <a:latin typeface="Tahoma"/>
                <a:cs typeface="Tahoma"/>
              </a:rPr>
              <a:t>ms </a:t>
            </a:r>
            <a:r>
              <a:rPr sz="3500" spc="-10" dirty="0">
                <a:latin typeface="Tahoma"/>
                <a:cs typeface="Tahoma"/>
              </a:rPr>
              <a:t>Safety</a:t>
            </a:r>
            <a:endParaRPr sz="3500">
              <a:latin typeface="Tahoma"/>
              <a:cs typeface="Tahoma"/>
            </a:endParaRPr>
          </a:p>
          <a:p>
            <a:pPr marL="12700" marR="2509520">
              <a:lnSpc>
                <a:spcPts val="3450"/>
              </a:lnSpc>
            </a:pPr>
            <a:r>
              <a:rPr sz="3500" spc="-10" dirty="0">
                <a:latin typeface="Tahoma"/>
                <a:cs typeface="Tahoma"/>
              </a:rPr>
              <a:t>Reduced</a:t>
            </a:r>
            <a:r>
              <a:rPr sz="3500" spc="-229" dirty="0">
                <a:latin typeface="Tahoma"/>
                <a:cs typeface="Tahoma"/>
              </a:rPr>
              <a:t> </a:t>
            </a:r>
            <a:r>
              <a:rPr sz="3500" spc="-10" dirty="0">
                <a:latin typeface="Tahoma"/>
                <a:cs typeface="Tahoma"/>
              </a:rPr>
              <a:t>fraud</a:t>
            </a:r>
            <a:r>
              <a:rPr sz="3500" spc="-225" dirty="0">
                <a:latin typeface="Tahoma"/>
                <a:cs typeface="Tahoma"/>
              </a:rPr>
              <a:t> </a:t>
            </a:r>
            <a:r>
              <a:rPr sz="3500" spc="-10" dirty="0">
                <a:latin typeface="Tahoma"/>
                <a:cs typeface="Tahoma"/>
              </a:rPr>
              <a:t>cases </a:t>
            </a:r>
            <a:r>
              <a:rPr sz="3500" dirty="0">
                <a:latin typeface="Tahoma"/>
                <a:cs typeface="Tahoma"/>
              </a:rPr>
              <a:t>User</a:t>
            </a:r>
            <a:r>
              <a:rPr sz="3500" spc="-175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trust</a:t>
            </a:r>
            <a:endParaRPr sz="3500">
              <a:latin typeface="Tahoma"/>
              <a:cs typeface="Tahoma"/>
            </a:endParaRPr>
          </a:p>
          <a:p>
            <a:pPr marL="12700" marR="5080">
              <a:lnSpc>
                <a:spcPts val="3450"/>
              </a:lnSpc>
            </a:pPr>
            <a:r>
              <a:rPr sz="3500" spc="-114" dirty="0">
                <a:latin typeface="Tahoma"/>
                <a:cs typeface="Tahoma"/>
              </a:rPr>
              <a:t>Fewer</a:t>
            </a:r>
            <a:r>
              <a:rPr sz="3500" spc="-204" dirty="0">
                <a:latin typeface="Tahoma"/>
                <a:cs typeface="Tahoma"/>
              </a:rPr>
              <a:t> </a:t>
            </a:r>
            <a:r>
              <a:rPr sz="3500" spc="-75" dirty="0">
                <a:latin typeface="Tahoma"/>
                <a:cs typeface="Tahoma"/>
              </a:rPr>
              <a:t>complaints,</a:t>
            </a:r>
            <a:r>
              <a:rPr sz="3500" spc="-204" dirty="0">
                <a:latin typeface="Tahoma"/>
                <a:cs typeface="Tahoma"/>
              </a:rPr>
              <a:t> </a:t>
            </a:r>
            <a:r>
              <a:rPr sz="3500" spc="-25" dirty="0">
                <a:latin typeface="Tahoma"/>
                <a:cs typeface="Tahoma"/>
              </a:rPr>
              <a:t>higher</a:t>
            </a:r>
            <a:r>
              <a:rPr sz="3500" spc="-200" dirty="0">
                <a:latin typeface="Tahoma"/>
                <a:cs typeface="Tahoma"/>
              </a:rPr>
              <a:t> </a:t>
            </a:r>
            <a:r>
              <a:rPr sz="3500" spc="-35" dirty="0">
                <a:latin typeface="Tahoma"/>
                <a:cs typeface="Tahoma"/>
              </a:rPr>
              <a:t>retention </a:t>
            </a:r>
            <a:r>
              <a:rPr sz="3500" spc="-10" dirty="0">
                <a:latin typeface="Tahoma"/>
                <a:cs typeface="Tahoma"/>
              </a:rPr>
              <a:t>Adaptivity</a:t>
            </a:r>
            <a:endParaRPr sz="3500">
              <a:latin typeface="Tahoma"/>
              <a:cs typeface="Tahoma"/>
            </a:endParaRPr>
          </a:p>
          <a:p>
            <a:pPr marL="12700">
              <a:lnSpc>
                <a:spcPts val="3460"/>
              </a:lnSpc>
            </a:pPr>
            <a:r>
              <a:rPr sz="3500" spc="-50" dirty="0">
                <a:latin typeface="Tahoma"/>
                <a:cs typeface="Tahoma"/>
              </a:rPr>
              <a:t>Continuous</a:t>
            </a:r>
            <a:r>
              <a:rPr sz="3500" spc="-220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learning</a:t>
            </a:r>
            <a:r>
              <a:rPr sz="3500" spc="-215" dirty="0">
                <a:latin typeface="Tahoma"/>
                <a:cs typeface="Tahoma"/>
              </a:rPr>
              <a:t> </a:t>
            </a:r>
            <a:r>
              <a:rPr sz="3500" spc="-45" dirty="0">
                <a:latin typeface="Tahoma"/>
                <a:cs typeface="Tahoma"/>
              </a:rPr>
              <a:t>from</a:t>
            </a:r>
            <a:r>
              <a:rPr sz="3500" spc="-215" dirty="0">
                <a:latin typeface="Tahoma"/>
                <a:cs typeface="Tahoma"/>
              </a:rPr>
              <a:t> </a:t>
            </a:r>
            <a:r>
              <a:rPr sz="3500" spc="-10" dirty="0">
                <a:latin typeface="Tahoma"/>
                <a:cs typeface="Tahoma"/>
              </a:rPr>
              <a:t>reports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spc="400" dirty="0"/>
              <a:t>CONCLUSION</a:t>
            </a:r>
            <a:endParaRPr sz="3550"/>
          </a:p>
        </p:txBody>
      </p:sp>
      <p:sp>
        <p:nvSpPr>
          <p:cNvPr id="3" name="object 3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311" y="3439255"/>
            <a:ext cx="18227675" cy="171323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 marR="5080" indent="-635" algn="ctr">
              <a:lnSpc>
                <a:spcPts val="4130"/>
              </a:lnSpc>
              <a:spcBef>
                <a:spcPts val="994"/>
              </a:spcBef>
            </a:pPr>
            <a:r>
              <a:rPr sz="4200" spc="-105" dirty="0">
                <a:latin typeface="Tahoma"/>
                <a:cs typeface="Tahoma"/>
              </a:rPr>
              <a:t>The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30" dirty="0">
                <a:latin typeface="Tahoma"/>
                <a:cs typeface="Tahoma"/>
              </a:rPr>
              <a:t>system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55" dirty="0">
                <a:latin typeface="Tahoma"/>
                <a:cs typeface="Tahoma"/>
              </a:rPr>
              <a:t>effectively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30" dirty="0">
                <a:latin typeface="Tahoma"/>
                <a:cs typeface="Tahoma"/>
              </a:rPr>
              <a:t>identifies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45" dirty="0">
                <a:latin typeface="Tahoma"/>
                <a:cs typeface="Tahoma"/>
              </a:rPr>
              <a:t>spam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30" dirty="0">
                <a:latin typeface="Tahoma"/>
                <a:cs typeface="Tahoma"/>
              </a:rPr>
              <a:t>messages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25" dirty="0">
                <a:latin typeface="Tahoma"/>
                <a:cs typeface="Tahoma"/>
              </a:rPr>
              <a:t>using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Machine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Learning </a:t>
            </a:r>
            <a:r>
              <a:rPr sz="4200" spc="-85" dirty="0">
                <a:latin typeface="Tahoma"/>
                <a:cs typeface="Tahoma"/>
              </a:rPr>
              <a:t>techniques.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285" dirty="0">
                <a:latin typeface="Tahoma"/>
                <a:cs typeface="Tahoma"/>
              </a:rPr>
              <a:t>It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90" dirty="0">
                <a:latin typeface="Tahoma"/>
                <a:cs typeface="Tahoma"/>
              </a:rPr>
              <a:t>improves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dirty="0">
                <a:latin typeface="Tahoma"/>
                <a:cs typeface="Tahoma"/>
              </a:rPr>
              <a:t>user</a:t>
            </a:r>
            <a:r>
              <a:rPr sz="4200" spc="-250" dirty="0">
                <a:latin typeface="Tahoma"/>
                <a:cs typeface="Tahoma"/>
              </a:rPr>
              <a:t> </a:t>
            </a:r>
            <a:r>
              <a:rPr sz="4200" dirty="0">
                <a:latin typeface="Tahoma"/>
                <a:cs typeface="Tahoma"/>
              </a:rPr>
              <a:t>security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40" dirty="0">
                <a:latin typeface="Tahoma"/>
                <a:cs typeface="Tahoma"/>
              </a:rPr>
              <a:t>and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reduces</a:t>
            </a:r>
            <a:r>
              <a:rPr sz="4200" spc="-250" dirty="0">
                <a:latin typeface="Tahoma"/>
                <a:cs typeface="Tahoma"/>
              </a:rPr>
              <a:t> </a:t>
            </a:r>
            <a:r>
              <a:rPr sz="4200" spc="-45" dirty="0">
                <a:latin typeface="Tahoma"/>
                <a:cs typeface="Tahoma"/>
              </a:rPr>
              <a:t>spam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30" dirty="0">
                <a:latin typeface="Tahoma"/>
                <a:cs typeface="Tahoma"/>
              </a:rPr>
              <a:t>risks.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105" dirty="0">
                <a:latin typeface="Tahoma"/>
                <a:cs typeface="Tahoma"/>
              </a:rPr>
              <a:t>The</a:t>
            </a:r>
            <a:r>
              <a:rPr sz="4200" spc="-250" dirty="0">
                <a:latin typeface="Tahoma"/>
                <a:cs typeface="Tahoma"/>
              </a:rPr>
              <a:t> </a:t>
            </a:r>
            <a:r>
              <a:rPr sz="4200" spc="-70" dirty="0">
                <a:latin typeface="Tahoma"/>
                <a:cs typeface="Tahoma"/>
              </a:rPr>
              <a:t>model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20" dirty="0">
                <a:latin typeface="Tahoma"/>
                <a:cs typeface="Tahoma"/>
              </a:rPr>
              <a:t>can</a:t>
            </a:r>
            <a:r>
              <a:rPr sz="4200" spc="-254" dirty="0">
                <a:latin typeface="Tahoma"/>
                <a:cs typeface="Tahoma"/>
              </a:rPr>
              <a:t> </a:t>
            </a:r>
            <a:r>
              <a:rPr sz="4200" spc="-25" dirty="0">
                <a:latin typeface="Tahoma"/>
                <a:cs typeface="Tahoma"/>
              </a:rPr>
              <a:t>be </a:t>
            </a:r>
            <a:r>
              <a:rPr sz="4200" spc="-35" dirty="0">
                <a:latin typeface="Tahoma"/>
                <a:cs typeface="Tahoma"/>
              </a:rPr>
              <a:t>further</a:t>
            </a:r>
            <a:r>
              <a:rPr sz="4200" spc="-265" dirty="0">
                <a:latin typeface="Tahoma"/>
                <a:cs typeface="Tahoma"/>
              </a:rPr>
              <a:t> </a:t>
            </a:r>
            <a:r>
              <a:rPr sz="4200" spc="-70" dirty="0">
                <a:latin typeface="Tahoma"/>
                <a:cs typeface="Tahoma"/>
              </a:rPr>
              <a:t>enhanced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25" dirty="0">
                <a:latin typeface="Tahoma"/>
                <a:cs typeface="Tahoma"/>
              </a:rPr>
              <a:t>using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45" dirty="0">
                <a:latin typeface="Tahoma"/>
                <a:cs typeface="Tahoma"/>
              </a:rPr>
              <a:t>advanced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75" dirty="0">
                <a:latin typeface="Tahoma"/>
                <a:cs typeface="Tahoma"/>
              </a:rPr>
              <a:t>deep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20" dirty="0">
                <a:latin typeface="Tahoma"/>
                <a:cs typeface="Tahoma"/>
              </a:rPr>
              <a:t>learning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75" dirty="0">
                <a:latin typeface="Tahoma"/>
                <a:cs typeface="Tahoma"/>
              </a:rPr>
              <a:t>methods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dirty="0">
                <a:latin typeface="Tahoma"/>
                <a:cs typeface="Tahoma"/>
              </a:rPr>
              <a:t>in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95" dirty="0">
                <a:latin typeface="Tahoma"/>
                <a:cs typeface="Tahoma"/>
              </a:rPr>
              <a:t>the</a:t>
            </a:r>
            <a:r>
              <a:rPr sz="4200" spc="-260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future</a:t>
            </a:r>
            <a:endParaRPr sz="4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22987" y="3957356"/>
            <a:ext cx="571119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600" b="0" spc="-770" dirty="0">
                <a:latin typeface="Arial Black"/>
                <a:cs typeface="Arial Black"/>
              </a:rPr>
              <a:t>THANK</a:t>
            </a:r>
            <a:r>
              <a:rPr sz="7600" b="0" spc="-700" dirty="0">
                <a:latin typeface="Arial Black"/>
                <a:cs typeface="Arial Black"/>
              </a:rPr>
              <a:t> </a:t>
            </a:r>
            <a:r>
              <a:rPr sz="7600" b="0" spc="-840" dirty="0">
                <a:latin typeface="Arial Black"/>
                <a:cs typeface="Arial Black"/>
              </a:rPr>
              <a:t>YOU</a:t>
            </a:r>
            <a:endParaRPr sz="7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294</Words>
  <Application>Microsoft Office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Black</vt:lpstr>
      <vt:lpstr>Tahoma</vt:lpstr>
      <vt:lpstr>Trebuchet MS</vt:lpstr>
      <vt:lpstr>Office Theme</vt:lpstr>
      <vt:lpstr>SPAM MESSAGE DETECTION:</vt:lpstr>
      <vt:lpstr>INTRODUCTION</vt:lpstr>
      <vt:lpstr>OBJECTIVE</vt:lpstr>
      <vt:lpstr>METHODOLOGY</vt:lpstr>
      <vt:lpstr>FLOW CHART</vt:lpstr>
      <vt:lpstr>OUTCOMES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and White Simple Minimalist Project Presentation</dc:title>
  <dc:creator>Akhil Bobby</dc:creator>
  <cp:keywords>DAHGSrYgL6U,BAHGSib5Mwo,0</cp:keywords>
  <cp:lastModifiedBy>Sai Rishika</cp:lastModifiedBy>
  <cp:revision>1</cp:revision>
  <dcterms:created xsi:type="dcterms:W3CDTF">2026-04-08T19:03:04Z</dcterms:created>
  <dcterms:modified xsi:type="dcterms:W3CDTF">2026-04-08T19:03:36Z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2026-04-08T00:00:00Z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2026-04-08T00:00:00Z</vt:filetime>
  </property>
  <property fmtid="{D5CDD505-2E9C-101B-9397-08002B2CF9AE}" pid="5" name="Producer">
    <vt:lpwstr>Canva</vt:lpwstr>
  </property>
</Properties>
</file>